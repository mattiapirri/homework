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86" r:id="rId5"/>
    <p:sldId id="287" r:id="rId6"/>
    <p:sldId id="288" r:id="rId7"/>
    <p:sldId id="292" r:id="rId8"/>
    <p:sldId id="291" r:id="rId9"/>
    <p:sldId id="294" r:id="rId10"/>
    <p:sldId id="293" r:id="rId11"/>
    <p:sldId id="290" r:id="rId12"/>
    <p:sldId id="295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31736-17C0-4042-9AF3-D24B3EF7A1D3}" v="117" dt="2021-03-27T15:26:32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266" d="100"/>
          <a:sy n="266" d="100"/>
        </p:scale>
        <p:origin x="-41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4:49:21.94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 16383,'26'-6'0,"-4"1"0,-17 5 0,3 0 0,5-2 0,-4 1 0,3-1 0,10-1 0,-12 3 0,33-3 0,-32 3 0,37 0 0,-38 0 0,38 0 0,-37 0 0,42 0 0,-44-2 0,48 1 0,-48-1 0,47 2 0,-45 0 0,39 0 0,-39 0 0,32 0 0,-34 0 0,35 0 0,-34 0 0,45 0 0,-42 0 0,51 0 0,-51 0 0,50 0 0,-52 0 0,40 0 0,-41 0 0,31 5 0,-32-4 0,30 6 0,-30-7 0,27 5 0,-27-4 0,25 1 0,-25-2 0,20 0 0,-22 0 0,18-2 0,-18 1 0,15-1 0,-15-1 0,15 3 0,-14-3 0,19 3 0,-19 0 0,26 3 0,-25-3 0,27 3 0,-27-3 0,22 0 0,-22 0 0,10 0 0,-13 0 0,4 0 0,1 0 0,0 0 0,0 0 0,-1 0 0,1 0 0,0 0 0,-1 0 0,1 0 0,-1 0 0,-1-3 0,3 3 0,-3-3 0,1 3 0,1 0 0,0 0 0,-1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4:49:23.3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 16383,'26'0'0,"-5"0"0,-15 0 0,2 0 0,7 2 0,-5-1 0,5 1 0,14-2 0,-18 0 0,54 0 0,-51 0 0,62 0 0,-61 0 0,63 0 0,-63 0 0,69-2 0,-69 1 0,71-4 0,-70 5 0,55-5 0,-59 4 0,43-1 0,-43 2 0,38-2 0,-39 1 0,39-1 0,-39 2 0,51 0 0,-48 0 0,70 0 0,-68 0 0,82 2 0,-80 1 0,33 0 0,0-1 0,-30 1 0,29 1 0,1-1 0,-30-1 0,68 7 0,-72-8 0,57 6 0,-61-4 0,45 0 0,-47 0 0,27-1 0,-30-1 0,10 1 0,-11-2 0,2-2 0,1-2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4:49:26.44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 16383,'26'-3'0,"-4"0"0,-17 3 0,3 0 0,5 0 0,8 0 0,-5 0 0,34 0 0,-36 0 0,60 0 0,-60 0 0,60 0 0,-60 0 0,53 0 0,-55 0 0,46 0 0,-47 0 0,41 3 0,-40-3 0,45 5 0,-44-5 0,46 3 0,-47-3 0,41 0 0,-42 0 0,41 2 0,-40-1 0,60 6 0,-57-6 0,79 13 0,-77-11 0,81 13 0,-82-14 0,71 10 0,-73-11 0,50 6 0,-52-6 0,28 1 0,-31-2 0,17 0 0,-18 0 0,16 0 0,-16 0 0,14 0 0,-15 0 0,15-2 0,-14 1 0,16-1 0,-16 2 0,16 0 0,-16 0 0,18 0 0,-17 0 0,12-3 0,-14 3 0,5-3 0,-1 3 0,-2 0 0,3 0 0,-3 0 0,1 0 0,1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4:49:28.47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0 125 16383,'24'-6'0,"-3"3"0,-18 1 0,5 0 0,5-1 0,-3-3 0,4 3 0,-5 1 0,23-3 0,-19 4 0,52-6 0,-48 6 0,69-4 0,-67 5 0,77-3 0,-79 3 0,81 0 0,-81 0 0,81 0 0,-81 0 0,76 0 0,-77 0 0,63 0 0,-66 0 0,49-5 0,-50 4 0,36-9 0,-39 9 0,25-6 0,-26 6 0,19-3 0,-19 3 0,11-4 0,-14 2 0,13-2 0,-12 2 0,16 0 0,-15 3 0,19-2 0,-17 1 0,25-1 0,-25 2 0,25 0 0,-25 0 0,24-3 0,-24 3 0,23-5 0,-24 4 0,23-1 0,-22 2 0,27-2 0,-26 1 0,26-1 0,-27 2 0,17 0 0,-19 0 0,11-3 0,-12 3 0,7-3 0,-3 3 0,-1 0 0,4 0 0,-5 0 0,2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4:49:30.05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28 16383,'26'0'0,"-6"-3"0,-16 3 0,4-3 0,6 3 0,-2 0 0,0 0 0,15 0 0,-17 0 0,41-2 0,-40 1 0,37-3 0,-38 3 0,33-1 0,-33 2 0,33 0 0,-32 0 0,32-3 0,-33 3 0,40-3 0,-40 1 0,47 1 0,-48-1 0,46 2 0,-44 0 0,40 0 0,-41 0 0,36 2 0,-36-1 0,31 1 0,-32-2 0,30 2 0,-30-1 0,32 4 0,-31-5 0,33 3 0,-33-3 0,29 0 0,-33 2 0,25-1 0,-25 1 0,16-2 0,-15 0 0,5 0 0,-1 0 0,-2 0 0,3 0 0,-4 0 0,3 0 0,2 0 0,-4 0 0,8 0 0,-10 0 0,13 0 0,-13 0 0,8 0 0,-7 0 0,2 0 0,1 0 0,2 0 0,-4 0 0,11 2 0,-13-1 0,20 4 0,-19-5 0,19 5 0,-19-4 0,9 1 0,-9-2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39.6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16383,'29'0'0,"-4"0"0,-17 0 0,-1 0 0,8 0 0,1 0 0,0 0 0,23 4 0,-26-3 0,46 6 0,-44-7 0,40 7 0,-42-6 0,32 6 0,-33-6 0,26 2 0,-27-3 0,21 4 0,-22-4 0,18 4 0,-17-4 0,13 3 0,-14-2 0,11 2 0,-12-3 0,13 0 0,-13 0 0,19 0 0,-17 0 0,14 0 0,-16 0 0,8 0 0,-7 0 0,15 0 0,-15 0 0,18 4 0,-18-3 0,18 2 0,-18-3 0,15 0 0,-15 0 0,11 0 0,-12 0 0,13 4 0,-13-4 0,9 4 0,-10-4 0,3 0 0,-3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41.04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 16383,'29'0'0,"-4"0"0,-17 0 0,-1 0 0,8 0 0,-6 0 0,6 0 0,-4 0 0,-3 0 0,17 0 0,-14 0 0,31-3 0,-29 2 0,28-2 0,-29 3 0,22 0 0,-22 0 0,23 0 0,-24 0 0,24 0 0,-24 3 0,24-2 0,-24 2 0,20-3 0,-21 0 0,12 4 0,-14-3 0,7 2 0,-7-3 0,7 0 0,-7 3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42.0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16383,'29'0'0,"-4"0"0,-17 0 0,-1 0 0,8 0 0,18 0 0,-12 0 0,48 3 0,-52-2 0,76 6 0,-77-3 0,83 4 0,-84-4 0,71 3 0,-70-6 0,60 6 0,-59-6 0,52 5 0,-55-5 0,45 3 0,-45-4 0,41 3 0,-41-2 0,34 6 0,-36-6 0,27 2 0,-28-3 0,20 3 0,-21-2 0,15 3 0,-19-1 0,4-2 0,-10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45.9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 16383,'29'-4'0,"-5"0"0,-16 4 0,0 0 0,6 0 0,-1 0 0,2 0 0,27 0 0,-27 0 0,61 4 0,-59-3 0,66 6 0,-66-7 0,62 7 0,-62-6 0,55 3 0,-57-4 0,48 3 0,-50-2 0,36 2 0,-37-3 0,30 0 0,-31 0 0,24 4 0,-24-4 0,17 4 0,-18-4 0,15 0 0,-16 0 0,12 0 0,-11 0 0,8 0 0,-10 0 0,3 0 0,0 0 0,-2 0 0,5 0 0,-5 0 0,2 0 0,0 0 0,-2 0 0,5 0 0,-5 0 0,2 0 0,-4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46.79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16383,'29'0'0,"-4"0"0,-17 0 0,-1 0 0,8 0 0,-6 0 0,6 0 0,-4 0 0,-3 0 0,7 0 0,-7 0 0,3 0 0,14 0 0,-13 0 0,33 0 0,-32 0 0,32 4 0,-33-4 0,23 7 0,-25-6 0,15 3 0,-19-1 0,15-2 0,-16 2 0,13 1 0,-9-4 0,2 4 0,0-4 0,-2 0 0,5 0 0,-2 0 0,0 0 0,6 0 0,-9 0 0,6 0 0,-8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53.1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 16383,'29'-5'0,"-4"2"0,-18 3 0,1 0 0,6 0 0,-4 0 0,4 0 0,-3 0 0,-2 0 0,5-4 0,-5 4 0,9-4 0,-9 4 0,9 0 0,-9 0 0,2 0 0,0 0 0,-3 0 0,7 0 0,-7 0 0,3 0 0,0 0 0,-2-3 0,5 2 0,-5-3 0,5 4 0,-5 0 0,9 0 0,-9 0 0,16 0 0,-15 0 0,15 4 0,-16-3 0,13 2 0,-13-3 0,9 0 0,-10 0 0,10 0 0,-8 0 0,14 3 0,-13-2 0,10 3 0,-12-4 0,2 0 0,0 0 0,-3 0 0,7 0 0,-7 0 0,3 0 0,0 0 0,-2 0 0,5 0 0,-5 0 0,2 0 0,0 0 0,-2 0 0,5 0 0,-5 0 0,2 0 0,0 0 0,-3 0 0,7 3 0,-7-2 0,3 2 0,-3-3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1T17:00:59.1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16383,'29'0'0,"-4"0"0,-17 0 0,-1 0 0,8 0 0,-2 0 0,2 0 0,23 0 0,-23 0 0,50 0 0,-49 0 0,49 0 0,-50 0 0,51 0 0,-51 0 0,47 0 0,-48 0 0,41 0 0,-41 0 0,41 3 0,-41-2 0,48 6 0,-47-3 0,51 4 0,-51-4 0,40 3 0,-42-6 0,35 2 0,-35-3 0,36 0 0,-36 0 0,42 0 0,-41 0 0,45 3 0,-45-2 0,48 9 0,-46-8 0,49 8 0,-50-9 0,40 3 0,-42-4 0,32 0 0,-33 0 0,30 0 0,-30 0 0,26 0 0,-27 0 0,21-4 0,-22 3 0,11-2 0,-12 3 0,2 0 0,0 0 0,-3-4 0,7 3 0,-3-5 0,0 5 0,13-6 0,-14 6 0,20-3 0,-21 4 0,22 0 0,-21 0 0,17 0 0,-18 0 0,11 0 0,-12 0 0,13 0 0,-13 0 0,9 0 0,-10 0 0,3 0 0,1 4 0,-4-3 0,7 2 0,-7-3 0,3 0 0,0 0 0,-2 3 0,5-2 0,-5 3 0,2-4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456CE-0770-0943-B234-C018190F7CAC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31B2E-25BD-7842-BD8B-A95672DF87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67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22/04/21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customXml" Target="../ink/ink10.xml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6.png"/><Relationship Id="rId14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 dirty="0">
                <a:solidFill>
                  <a:srgbClr val="FFFFFF"/>
                </a:solidFill>
              </a:rPr>
              <a:t>MHW3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Mattia Pirri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O46002095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21/04/2021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Descrizione API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utilizzate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4F96DFF-8565-AF4C-AD48-1B4E770E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65" y="3751529"/>
            <a:ext cx="4037839" cy="882968"/>
          </a:xfrm>
          <a:prstGeom prst="rect">
            <a:avLst/>
          </a:prstGeom>
        </p:spPr>
      </p:pic>
      <p:pic>
        <p:nvPicPr>
          <p:cNvPr id="6" name="Immagine 5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EDB76362-AD28-AD47-9C2E-545358CFA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85" y="511388"/>
            <a:ext cx="3810000" cy="130810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CDCCC8-33A5-B54B-8B0A-0CF5A50D819C}"/>
              </a:ext>
            </a:extLst>
          </p:cNvPr>
          <p:cNvSpPr txBox="1"/>
          <p:nvPr/>
        </p:nvSpPr>
        <p:spPr>
          <a:xfrm>
            <a:off x="6094465" y="2165654"/>
            <a:ext cx="4037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 utilizzato le API di </a:t>
            </a:r>
            <a:r>
              <a:rPr lang="it-IT" dirty="0" err="1"/>
              <a:t>google</a:t>
            </a:r>
            <a:r>
              <a:rPr lang="it-IT" dirty="0"/>
              <a:t> Books per ottenere le copertine e una breve trama dei libri in vendita nel mio e-commerce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EC4AAB3-890E-9441-B9AE-911F942C37BB}"/>
              </a:ext>
            </a:extLst>
          </p:cNvPr>
          <p:cNvSpPr txBox="1"/>
          <p:nvPr/>
        </p:nvSpPr>
        <p:spPr>
          <a:xfrm>
            <a:off x="6133718" y="5071194"/>
            <a:ext cx="4037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 utilizzato le API di </a:t>
            </a:r>
            <a:r>
              <a:rPr lang="it-IT" dirty="0" err="1"/>
              <a:t>Spotify</a:t>
            </a:r>
            <a:r>
              <a:rPr lang="it-IT" dirty="0"/>
              <a:t> per ottenere le cover degli album delle canzoni in vendita e la loro durata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Google Books API</a:t>
            </a:r>
          </a:p>
        </p:txBody>
      </p:sp>
      <p:pic>
        <p:nvPicPr>
          <p:cNvPr id="17" name="Immagine 16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312DB260-0202-1943-ABDE-83BC65154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95" y="1509794"/>
            <a:ext cx="2690993" cy="9239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855F57-1709-5146-B5BB-274659DAA220}"/>
              </a:ext>
            </a:extLst>
          </p:cNvPr>
          <p:cNvSpPr txBox="1"/>
          <p:nvPr/>
        </p:nvSpPr>
        <p:spPr>
          <a:xfrm>
            <a:off x="4548199" y="2038754"/>
            <a:ext cx="68519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ottenere le informazioni di mio interesse è sufficiente fornire un API </a:t>
            </a:r>
            <a:r>
              <a:rPr lang="it-IT" dirty="0" err="1"/>
              <a:t>Key</a:t>
            </a:r>
            <a:r>
              <a:rPr lang="it-IT" dirty="0"/>
              <a:t> che è possibile ottenere da Google API Console.</a:t>
            </a:r>
          </a:p>
          <a:p>
            <a:endParaRPr lang="it-IT" dirty="0"/>
          </a:p>
          <a:p>
            <a:r>
              <a:rPr lang="it-IT" dirty="0"/>
              <a:t>Per effettuare una ricerca è necessario effettuare una richiesta di tipo GET al seguente </a:t>
            </a:r>
            <a:r>
              <a:rPr lang="it-IT" dirty="0" err="1"/>
              <a:t>endpoint</a:t>
            </a:r>
            <a:r>
              <a:rPr lang="it-IT" dirty="0"/>
              <a:t>:</a:t>
            </a:r>
          </a:p>
          <a:p>
            <a:endParaRPr lang="it-IT" dirty="0"/>
          </a:p>
          <a:p>
            <a:r>
              <a:rPr lang="it-IT" sz="1600" dirty="0">
                <a:latin typeface="Consolas" panose="020B0609020204030204" pitchFamily="49" charset="0"/>
                <a:cs typeface="Consolas" panose="020B0609020204030204" pitchFamily="49" charset="0"/>
              </a:rPr>
              <a:t>https://www.googleapis.com/books/v1/</a:t>
            </a:r>
            <a:r>
              <a:rPr lang="it-IT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volumes</a:t>
            </a:r>
            <a:endParaRPr lang="it-IT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it-IT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E richiede un singolo parametro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attraverso il quale si fornisce una stringa che viene cercata all’interno dei volumi presenti in database.</a:t>
            </a:r>
          </a:p>
        </p:txBody>
      </p:sp>
    </p:spTree>
    <p:extLst>
      <p:ext uri="{BB962C8B-B14F-4D97-AF65-F5344CB8AC3E}">
        <p14:creationId xmlns:p14="http://schemas.microsoft.com/office/powerpoint/2010/main" val="251534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Google Books API </a:t>
            </a:r>
            <a:r>
              <a:rPr lang="it-IT" sz="4000" dirty="0" err="1">
                <a:solidFill>
                  <a:srgbClr val="FFFFFF"/>
                </a:solidFill>
              </a:rPr>
              <a:t>Response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17" name="Immagine 16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312DB260-0202-1943-ABDE-83BC65154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95" y="1509794"/>
            <a:ext cx="2690993" cy="923908"/>
          </a:xfrm>
          <a:prstGeom prst="rect">
            <a:avLst/>
          </a:prstGeom>
        </p:spPr>
      </p:pic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E4012229-0272-7F41-B524-499E0551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269" y="0"/>
            <a:ext cx="6725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5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Google Books API </a:t>
            </a:r>
            <a:r>
              <a:rPr lang="it-IT" sz="4000" dirty="0" err="1">
                <a:solidFill>
                  <a:srgbClr val="FFFFFF"/>
                </a:solidFill>
              </a:rPr>
              <a:t>Response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17" name="Immagine 16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312DB260-0202-1943-ABDE-83BC65154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95" y="1509794"/>
            <a:ext cx="2690993" cy="9239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466CF2E-049F-B049-9F5C-463DE46C1FA4}"/>
              </a:ext>
            </a:extLst>
          </p:cNvPr>
          <p:cNvSpPr txBox="1"/>
          <p:nvPr/>
        </p:nvSpPr>
        <p:spPr>
          <a:xfrm>
            <a:off x="4535424" y="511388"/>
            <a:ext cx="7217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Viene ritornato un file </a:t>
            </a:r>
            <a:r>
              <a:rPr lang="it-IT" dirty="0" err="1"/>
              <a:t>json</a:t>
            </a:r>
            <a:r>
              <a:rPr lang="it-IT" dirty="0"/>
              <a:t> che contiene tra l’altro un array (</a:t>
            </a:r>
            <a:r>
              <a:rPr lang="it-IT" dirty="0" err="1"/>
              <a:t>items</a:t>
            </a:r>
            <a:r>
              <a:rPr lang="it-IT" dirty="0"/>
              <a:t>) con i risultati corrispondenti alla richiesta effettuata.</a:t>
            </a:r>
          </a:p>
          <a:p>
            <a:endParaRPr lang="it-IT" dirty="0"/>
          </a:p>
        </p:txBody>
      </p:sp>
      <p:pic>
        <p:nvPicPr>
          <p:cNvPr id="5" name="Immagine 4" descr="Immagine che contiene testo, screenshot, interni&#10;&#10;Descrizione generata automaticamente">
            <a:extLst>
              <a:ext uri="{FF2B5EF4-FFF2-40B4-BE49-F238E27FC236}">
                <a16:creationId xmlns:a16="http://schemas.microsoft.com/office/drawing/2014/main" id="{70328185-52A5-2647-AA8A-1C4C27FF94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00" t="22015" b="5066"/>
          <a:stretch/>
        </p:blipFill>
        <p:spPr>
          <a:xfrm>
            <a:off x="4504548" y="1204994"/>
            <a:ext cx="7067934" cy="67262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1A0F61B9-E5CB-D747-8FF7-9BABB90FA550}"/>
                  </a:ext>
                </a:extLst>
              </p14:cNvPr>
              <p14:cNvContentPartPr/>
              <p14:nvPr/>
            </p14:nvContentPartPr>
            <p14:xfrm>
              <a:off x="4868853" y="2378840"/>
              <a:ext cx="587160" cy="1008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1A0F61B9-E5CB-D747-8FF7-9BABB90FA5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3213" y="2307200"/>
                <a:ext cx="6588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5AA571BC-E64D-FF41-B80E-C9093CF0E48B}"/>
                  </a:ext>
                </a:extLst>
              </p14:cNvPr>
              <p14:cNvContentPartPr/>
              <p14:nvPr/>
            </p14:nvContentPartPr>
            <p14:xfrm>
              <a:off x="4948413" y="2500880"/>
              <a:ext cx="636480" cy="1944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5AA571BC-E64D-FF41-B80E-C9093CF0E4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2773" y="2429240"/>
                <a:ext cx="7081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FF0D06FF-3411-B54D-AAFA-E724D50E1F14}"/>
                  </a:ext>
                </a:extLst>
              </p14:cNvPr>
              <p14:cNvContentPartPr/>
              <p14:nvPr/>
            </p14:nvContentPartPr>
            <p14:xfrm>
              <a:off x="4871373" y="2936120"/>
              <a:ext cx="614880" cy="29160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FF0D06FF-3411-B54D-AAFA-E724D50E1F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35373" y="2864120"/>
                <a:ext cx="6865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5FA3B625-3B62-AB4D-9FEF-38A9B99D7DA6}"/>
                  </a:ext>
                </a:extLst>
              </p14:cNvPr>
              <p14:cNvContentPartPr/>
              <p14:nvPr/>
            </p14:nvContentPartPr>
            <p14:xfrm>
              <a:off x="4991253" y="3993440"/>
              <a:ext cx="582480" cy="45360"/>
            </p14:xfrm>
          </p:contentPart>
        </mc:Choice>
        <mc:Fallback xmlns=""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5FA3B625-3B62-AB4D-9FEF-38A9B99D7D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55253" y="3921440"/>
                <a:ext cx="6541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CB0E3266-DDCA-5D4C-8A97-D28FFC0DCEFD}"/>
                  </a:ext>
                </a:extLst>
              </p14:cNvPr>
              <p14:cNvContentPartPr/>
              <p14:nvPr/>
            </p14:nvContentPartPr>
            <p14:xfrm>
              <a:off x="5114733" y="4302680"/>
              <a:ext cx="489600" cy="13680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CB0E3266-DDCA-5D4C-8A97-D28FFC0DCEF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78733" y="4231040"/>
                <a:ext cx="561240" cy="15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808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Google Books API Implementazione</a:t>
            </a:r>
          </a:p>
        </p:txBody>
      </p:sp>
      <p:pic>
        <p:nvPicPr>
          <p:cNvPr id="17" name="Immagine 16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312DB260-0202-1943-ABDE-83BC65154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37" y="1509794"/>
            <a:ext cx="2690993" cy="9239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466CF2E-049F-B049-9F5C-463DE46C1FA4}"/>
              </a:ext>
            </a:extLst>
          </p:cNvPr>
          <p:cNvSpPr txBox="1"/>
          <p:nvPr/>
        </p:nvSpPr>
        <p:spPr>
          <a:xfrm>
            <a:off x="4535424" y="511388"/>
            <a:ext cx="7217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All’interno del for che crea gli elementi a partire dal contenuto di </a:t>
            </a:r>
            <a:r>
              <a:rPr lang="it-IT" dirty="0" err="1"/>
              <a:t>content.js</a:t>
            </a:r>
            <a:r>
              <a:rPr lang="it-IT" dirty="0"/>
              <a:t> del precedente </a:t>
            </a:r>
            <a:r>
              <a:rPr lang="it-IT" dirty="0" err="1"/>
              <a:t>homework</a:t>
            </a:r>
            <a:r>
              <a:rPr lang="it-IT" dirty="0"/>
              <a:t> (ai quali elementi ho aggiunto un nuovo campo «categoria»), ho aggiunto un </a:t>
            </a:r>
            <a:r>
              <a:rPr lang="it-IT" dirty="0" err="1"/>
              <a:t>if</a:t>
            </a:r>
            <a:r>
              <a:rPr lang="it-IT" dirty="0"/>
              <a:t> che controlla che tale campo sia uguale a «Libri» e in tal caso effettuo la richiesta</a:t>
            </a:r>
          </a:p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1919988-1FDF-734D-8528-9F46FAE8D8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7"/>
          <a:stretch/>
        </p:blipFill>
        <p:spPr>
          <a:xfrm>
            <a:off x="4228344" y="1988716"/>
            <a:ext cx="7851648" cy="829300"/>
          </a:xfrm>
          <a:prstGeom prst="rect">
            <a:avLst/>
          </a:prstGeom>
        </p:spPr>
      </p:pic>
      <p:pic>
        <p:nvPicPr>
          <p:cNvPr id="15" name="Immagine 14" descr="Immagine che contiene testo&#10;&#10;Descrizione generata automaticamente">
            <a:extLst>
              <a:ext uri="{FF2B5EF4-FFF2-40B4-BE49-F238E27FC236}">
                <a16:creationId xmlns:a16="http://schemas.microsoft.com/office/drawing/2014/main" id="{6219424B-301C-4A4E-826B-0B8AE8C628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658"/>
          <a:stretch/>
        </p:blipFill>
        <p:spPr>
          <a:xfrm>
            <a:off x="4209458" y="3051394"/>
            <a:ext cx="7531100" cy="829300"/>
          </a:xfrm>
          <a:prstGeom prst="rect">
            <a:avLst/>
          </a:prstGeom>
        </p:spPr>
      </p:pic>
      <p:pic>
        <p:nvPicPr>
          <p:cNvPr id="21" name="Immagine 20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F4EE8C-E8B6-8745-97A1-8CDE0CB353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91"/>
          <a:stretch/>
        </p:blipFill>
        <p:spPr>
          <a:xfrm>
            <a:off x="4228344" y="4114072"/>
            <a:ext cx="7531100" cy="1121477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D16DCF9-36B0-9249-9960-3628E7788300}"/>
              </a:ext>
            </a:extLst>
          </p:cNvPr>
          <p:cNvSpPr txBox="1"/>
          <p:nvPr/>
        </p:nvSpPr>
        <p:spPr>
          <a:xfrm>
            <a:off x="4503029" y="5308110"/>
            <a:ext cx="7217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Alla funzione che si occupa dell’elaborazione dei dati passo come parametri il nodo HTML immagine e il nodo </a:t>
            </a:r>
            <a:r>
              <a:rPr lang="it-IT" dirty="0" err="1"/>
              <a:t>span</a:t>
            </a:r>
            <a:r>
              <a:rPr lang="it-IT" dirty="0"/>
              <a:t> relativo alla descrizione.</a:t>
            </a:r>
          </a:p>
          <a:p>
            <a:r>
              <a:rPr lang="it-IT" dirty="0"/>
              <a:t>Dall’array contenente i risultati della richiesta, estraggo il primo elemento che è quello con la più elevata probabilità di essere quello voluto.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36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Spotify</a:t>
            </a:r>
            <a:r>
              <a:rPr lang="it-IT" sz="4000" dirty="0">
                <a:solidFill>
                  <a:srgbClr val="FFFFFF"/>
                </a:solidFill>
              </a:rPr>
              <a:t> API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Richiesta </a:t>
            </a:r>
            <a:r>
              <a:rPr lang="it-IT" sz="4000" dirty="0" err="1">
                <a:solidFill>
                  <a:srgbClr val="FFFFFF"/>
                </a:solidFill>
              </a:rPr>
              <a:t>token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F74C30-D6A3-5A48-8F16-750B944D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7" y="1788163"/>
            <a:ext cx="4037839" cy="88296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D8026D-AEFE-5F46-9089-60574732F5A9}"/>
              </a:ext>
            </a:extLst>
          </p:cNvPr>
          <p:cNvSpPr txBox="1"/>
          <p:nvPr/>
        </p:nvSpPr>
        <p:spPr>
          <a:xfrm>
            <a:off x="4559808" y="390144"/>
            <a:ext cx="72420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Spotify</a:t>
            </a:r>
            <a:r>
              <a:rPr lang="it-IT" dirty="0"/>
              <a:t> invece </a:t>
            </a:r>
            <a:r>
              <a:rPr lang="it-IT" dirty="0" err="1"/>
              <a:t>sfutta</a:t>
            </a:r>
            <a:r>
              <a:rPr lang="it-IT" dirty="0"/>
              <a:t> il meccanismo di autenticazione OAuth2.0. Ogni richiesta necessita di un </a:t>
            </a:r>
            <a:r>
              <a:rPr lang="it-IT" dirty="0" err="1"/>
              <a:t>token</a:t>
            </a:r>
            <a:r>
              <a:rPr lang="it-IT" dirty="0"/>
              <a:t> che si ottiene effettuando una richiesta di tipo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POST </a:t>
            </a:r>
            <a:r>
              <a:rPr lang="it-IT" dirty="0"/>
              <a:t>al seguente </a:t>
            </a:r>
            <a:r>
              <a:rPr lang="it-IT" dirty="0" err="1"/>
              <a:t>endpoint</a:t>
            </a:r>
            <a:r>
              <a:rPr lang="it-IT" dirty="0"/>
              <a:t>:</a:t>
            </a:r>
          </a:p>
          <a:p>
            <a:endParaRPr lang="it-IT" dirty="0"/>
          </a:p>
          <a:p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https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://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accounts.spotify.com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/api/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token</a:t>
            </a:r>
            <a:endParaRPr lang="it-IT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Il corpo della richiesta deve contenere il parametro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grant_type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settato a </a:t>
            </a:r>
            <a:r>
              <a:rPr lang="it-IT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client_credentials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codificato in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application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/x-www-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form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urlencoded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(specificato tramite l’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HTTP aggiuntivo:</a:t>
            </a:r>
          </a:p>
          <a:p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Content-Type:application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/x-www-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form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urlencoded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it-IT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L’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della richiesta deve contenere anche il parametro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authorization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contenente la concatenazione della stringa «Basic »  e la stringa codificata in Base64 «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client_id:client_secret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».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client_id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client_secret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si ottengono al momento della registrazione.</a:t>
            </a: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Risposta: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F327EA-88AE-3E46-A80B-800C07885C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99"/>
          <a:stretch/>
        </p:blipFill>
        <p:spPr>
          <a:xfrm>
            <a:off x="4034782" y="5206032"/>
            <a:ext cx="8157218" cy="165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0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Spotify</a:t>
            </a:r>
            <a:r>
              <a:rPr lang="it-IT" sz="4000" dirty="0">
                <a:solidFill>
                  <a:srgbClr val="FFFFFF"/>
                </a:solidFill>
              </a:rPr>
              <a:t> API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F74C30-D6A3-5A48-8F16-750B944D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2192"/>
            <a:ext cx="4037839" cy="88296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D8026D-AEFE-5F46-9089-60574732F5A9}"/>
              </a:ext>
            </a:extLst>
          </p:cNvPr>
          <p:cNvSpPr txBox="1"/>
          <p:nvPr/>
        </p:nvSpPr>
        <p:spPr>
          <a:xfrm>
            <a:off x="4492358" y="402336"/>
            <a:ext cx="724204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Una volta ottenuto il </a:t>
            </a:r>
            <a:r>
              <a:rPr lang="it-IT" dirty="0" err="1"/>
              <a:t>token</a:t>
            </a:r>
            <a:r>
              <a:rPr lang="it-IT" dirty="0"/>
              <a:t> posso effettuare le richieste volute.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Nel mio caso voglio effettuare una ricerca all’interno del database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spotify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per ottenere la cover e il nome dell’album nel quale è contenuta la traccia in vendita e la durata della stessa.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Per fare ciò bisogna effettuare una richiesta tramite il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meodo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al seguente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endpoint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https://api.spotify.com/v1/search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La richiesta deve avere un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aggiuntivo:</a:t>
            </a:r>
          </a:p>
          <a:p>
            <a:endParaRPr lang="it-IT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7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it-IT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Authorization</a:t>
            </a:r>
            <a:r>
              <a:rPr lang="it-IT" sz="1700" dirty="0">
                <a:latin typeface="Consolas" panose="020B0609020204030204" pitchFamily="49" charset="0"/>
                <a:cs typeface="Consolas" panose="020B0609020204030204" pitchFamily="49" charset="0"/>
              </a:rPr>
              <a:t>': '</a:t>
            </a:r>
            <a:r>
              <a:rPr lang="it-IT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Bearer</a:t>
            </a:r>
            <a:r>
              <a:rPr lang="it-IT" sz="1700" dirty="0">
                <a:latin typeface="Consolas" panose="020B0609020204030204" pitchFamily="49" charset="0"/>
                <a:cs typeface="Consolas" panose="020B0609020204030204" pitchFamily="49" charset="0"/>
              </a:rPr>
              <a:t> ' + </a:t>
            </a:r>
            <a:r>
              <a:rPr lang="it-IT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token_ottenuto_precedentemente</a:t>
            </a:r>
            <a:endParaRPr lang="it-IT" sz="1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it-IT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Il corpo invece deve contenere</a:t>
            </a: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della ricerca</a:t>
            </a: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tipo di contenuto (nel mio caso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track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072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Spotify</a:t>
            </a:r>
            <a:r>
              <a:rPr lang="it-IT" sz="4000" dirty="0">
                <a:solidFill>
                  <a:srgbClr val="FFFFFF"/>
                </a:solidFill>
              </a:rPr>
              <a:t> API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Formato risposta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F74C30-D6A3-5A48-8F16-750B944D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8163"/>
            <a:ext cx="4037839" cy="882968"/>
          </a:xfrm>
          <a:prstGeom prst="rect">
            <a:avLst/>
          </a:prstGeom>
        </p:spPr>
      </p:pic>
      <p:pic>
        <p:nvPicPr>
          <p:cNvPr id="11" name="Immagine 10" descr="Immagine che contiene testo&#10;&#10;Descrizione generata automaticamente">
            <a:extLst>
              <a:ext uri="{FF2B5EF4-FFF2-40B4-BE49-F238E27FC236}">
                <a16:creationId xmlns:a16="http://schemas.microsoft.com/office/drawing/2014/main" id="{3E6176DF-39C5-3D44-8396-247CEEA0B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311" y="-10142"/>
            <a:ext cx="737808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8F12A8E7-D0A7-3C42-8BFE-894279914901}"/>
                  </a:ext>
                </a:extLst>
              </p14:cNvPr>
              <p14:cNvContentPartPr/>
              <p14:nvPr/>
            </p14:nvContentPartPr>
            <p14:xfrm>
              <a:off x="4645488" y="546288"/>
              <a:ext cx="340200" cy="2232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8F12A8E7-D0A7-3C42-8BFE-8942799149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9488" y="474288"/>
                <a:ext cx="4118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28C04562-31B5-9748-8C1A-BBB450CEAF3C}"/>
                  </a:ext>
                </a:extLst>
              </p14:cNvPr>
              <p14:cNvContentPartPr/>
              <p14:nvPr/>
            </p14:nvContentPartPr>
            <p14:xfrm>
              <a:off x="4754208" y="668328"/>
              <a:ext cx="210240" cy="864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28C04562-31B5-9748-8C1A-BBB450CEAF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8208" y="596688"/>
                <a:ext cx="281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692DFE46-9791-8F42-BC84-0FF7C62080AC}"/>
                  </a:ext>
                </a:extLst>
              </p14:cNvPr>
              <p14:cNvContentPartPr/>
              <p14:nvPr/>
            </p14:nvContentPartPr>
            <p14:xfrm>
              <a:off x="4917648" y="814488"/>
              <a:ext cx="381600" cy="3060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692DFE46-9791-8F42-BC84-0FF7C62080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81648" y="742848"/>
                <a:ext cx="4532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63506779-F07E-624D-83F6-97E2DADEEDBE}"/>
                  </a:ext>
                </a:extLst>
              </p14:cNvPr>
              <p14:cNvContentPartPr/>
              <p14:nvPr/>
            </p14:nvContentPartPr>
            <p14:xfrm>
              <a:off x="4983168" y="1781808"/>
              <a:ext cx="373320" cy="1404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63506779-F07E-624D-83F6-97E2DADEED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47528" y="1709808"/>
                <a:ext cx="4449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5FD7E89B-BA82-504D-8C7B-3EE2B1270FB0}"/>
                  </a:ext>
                </a:extLst>
              </p14:cNvPr>
              <p14:cNvContentPartPr/>
              <p14:nvPr/>
            </p14:nvContentPartPr>
            <p14:xfrm>
              <a:off x="5052288" y="1944888"/>
              <a:ext cx="201960" cy="1152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5FD7E89B-BA82-504D-8C7B-3EE2B1270F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16288" y="1872888"/>
                <a:ext cx="2736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44E76A2-5854-9641-9E65-8F4023DC76EB}"/>
                  </a:ext>
                </a:extLst>
              </p14:cNvPr>
              <p14:cNvContentPartPr/>
              <p14:nvPr/>
            </p14:nvContentPartPr>
            <p14:xfrm>
              <a:off x="4976328" y="3231168"/>
              <a:ext cx="293040" cy="864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44E76A2-5854-9641-9E65-8F4023DC76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40688" y="3159168"/>
                <a:ext cx="3646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FB9BD419-8854-0A40-A44E-0550AA1CD965}"/>
                  </a:ext>
                </a:extLst>
              </p14:cNvPr>
              <p14:cNvContentPartPr/>
              <p14:nvPr/>
            </p14:nvContentPartPr>
            <p14:xfrm>
              <a:off x="4894248" y="4616088"/>
              <a:ext cx="721440" cy="25200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FB9BD419-8854-0A40-A44E-0550AA1CD9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58248" y="4544448"/>
                <a:ext cx="793080" cy="1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25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Spotify</a:t>
            </a:r>
            <a:r>
              <a:rPr lang="it-IT" sz="4000" dirty="0">
                <a:solidFill>
                  <a:srgbClr val="FFFFFF"/>
                </a:solidFill>
              </a:rPr>
              <a:t> API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Richiesta </a:t>
            </a:r>
            <a:r>
              <a:rPr lang="it-IT" sz="4000" dirty="0" err="1">
                <a:solidFill>
                  <a:srgbClr val="FFFFFF"/>
                </a:solidFill>
              </a:rPr>
              <a:t>token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F74C30-D6A3-5A48-8F16-750B944D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016"/>
            <a:ext cx="4037839" cy="882968"/>
          </a:xfrm>
          <a:prstGeom prst="rect">
            <a:avLst/>
          </a:prstGeom>
        </p:spPr>
      </p:pic>
      <p:pic>
        <p:nvPicPr>
          <p:cNvPr id="5" name="Immagine 4" descr="Immagine che contiene testo, monitor, screenshot, schermo&#10;&#10;Descrizione generata automaticamente">
            <a:extLst>
              <a:ext uri="{FF2B5EF4-FFF2-40B4-BE49-F238E27FC236}">
                <a16:creationId xmlns:a16="http://schemas.microsoft.com/office/drawing/2014/main" id="{CC7AD9CE-5E56-B44D-AC1C-41FB1F469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258" y="1785982"/>
            <a:ext cx="7867809" cy="2830849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327434-41C1-4542-839F-A90E39D0AC3D}"/>
              </a:ext>
            </a:extLst>
          </p:cNvPr>
          <p:cNvSpPr txBox="1"/>
          <p:nvPr/>
        </p:nvSpPr>
        <p:spPr>
          <a:xfrm>
            <a:off x="4504550" y="214536"/>
            <a:ext cx="7217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All’interno del for che crea gli elementi a partire dal contenuto di </a:t>
            </a:r>
            <a:r>
              <a:rPr lang="it-IT" dirty="0" err="1"/>
              <a:t>content.js</a:t>
            </a:r>
            <a:r>
              <a:rPr lang="it-IT" dirty="0"/>
              <a:t> del precedente, ho aggiunto un </a:t>
            </a:r>
            <a:r>
              <a:rPr lang="it-IT" dirty="0" err="1"/>
              <a:t>if</a:t>
            </a:r>
            <a:r>
              <a:rPr lang="it-IT" dirty="0"/>
              <a:t> che controlla che tale campo sia uguale a «Musica» e in tal caso effettuo la richiesta. Dal momento che la </a:t>
            </a:r>
            <a:r>
              <a:rPr lang="it-IT" dirty="0" err="1"/>
              <a:t>richesta</a:t>
            </a:r>
            <a:r>
              <a:rPr lang="it-IT" dirty="0"/>
              <a:t> ha bisogno del </a:t>
            </a:r>
            <a:r>
              <a:rPr lang="it-IT" dirty="0" err="1"/>
              <a:t>token</a:t>
            </a:r>
            <a:r>
              <a:rPr lang="it-IT" dirty="0"/>
              <a:t>, la prima volta effettuo una richiesta sincrona per ottenerlo</a:t>
            </a:r>
          </a:p>
          <a:p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D9C8A14-117C-E44F-A795-E54778D2B67B}"/>
              </a:ext>
            </a:extLst>
          </p:cNvPr>
          <p:cNvSpPr txBox="1"/>
          <p:nvPr/>
        </p:nvSpPr>
        <p:spPr>
          <a:xfrm>
            <a:off x="4545330" y="5826042"/>
            <a:ext cx="721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Una volta ottenuto il </a:t>
            </a:r>
            <a:r>
              <a:rPr lang="it-IT" dirty="0" err="1"/>
              <a:t>token</a:t>
            </a:r>
            <a:r>
              <a:rPr lang="it-IT" dirty="0"/>
              <a:t> posso effettuare la richiesta che mi serve.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C6E544-3430-324E-AC73-EA4E56A218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03"/>
          <a:stretch/>
        </p:blipFill>
        <p:spPr>
          <a:xfrm>
            <a:off x="4220259" y="4846415"/>
            <a:ext cx="7867808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0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Spotify</a:t>
            </a:r>
            <a:r>
              <a:rPr lang="it-IT" sz="4000" dirty="0">
                <a:solidFill>
                  <a:srgbClr val="FFFFFF"/>
                </a:solidFill>
              </a:rPr>
              <a:t> API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Richiesta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F74C30-D6A3-5A48-8F16-750B944D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016"/>
            <a:ext cx="4037839" cy="882968"/>
          </a:xfrm>
          <a:prstGeom prst="rect">
            <a:avLst/>
          </a:prstGeom>
        </p:spPr>
      </p:pic>
      <p:pic>
        <p:nvPicPr>
          <p:cNvPr id="7" name="Immagine 6" descr="Immagine che contiene testo, monitor, screenshot, schermo&#10;&#10;Descrizione generata automaticamente">
            <a:extLst>
              <a:ext uri="{FF2B5EF4-FFF2-40B4-BE49-F238E27FC236}">
                <a16:creationId xmlns:a16="http://schemas.microsoft.com/office/drawing/2014/main" id="{959C75D6-887A-0B46-AB81-F539EF9C1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5" b="74456"/>
          <a:stretch/>
        </p:blipFill>
        <p:spPr>
          <a:xfrm>
            <a:off x="4037818" y="156128"/>
            <a:ext cx="8154181" cy="88296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127B723-0278-7041-BD5C-97F88C6710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18"/>
          <a:stretch/>
        </p:blipFill>
        <p:spPr>
          <a:xfrm>
            <a:off x="4037826" y="2883141"/>
            <a:ext cx="8154174" cy="1237708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FD0292A-BADE-0541-83C5-B691B907C3F8}"/>
              </a:ext>
            </a:extLst>
          </p:cNvPr>
          <p:cNvSpPr txBox="1"/>
          <p:nvPr/>
        </p:nvSpPr>
        <p:spPr>
          <a:xfrm>
            <a:off x="4504550" y="4729842"/>
            <a:ext cx="7217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Alla funzione che si occupa dell’elaborazione dei dati passo come parametri il nodo HTML immagine e il nodo </a:t>
            </a:r>
            <a:r>
              <a:rPr lang="it-IT" dirty="0" err="1"/>
              <a:t>span</a:t>
            </a:r>
            <a:r>
              <a:rPr lang="it-IT" dirty="0"/>
              <a:t> relativo alla descrizione.</a:t>
            </a:r>
          </a:p>
          <a:p>
            <a:r>
              <a:rPr lang="it-IT" dirty="0"/>
              <a:t>Dall’array contenente i risultati della richiesta, estraggo il primo elemento che è quello con la più elevata probabilità di essere quello voluto.</a:t>
            </a:r>
          </a:p>
          <a:p>
            <a:endParaRPr lang="it-IT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4A62CA6-97E7-134C-965A-CD541172A8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95"/>
          <a:stretch/>
        </p:blipFill>
        <p:spPr>
          <a:xfrm>
            <a:off x="4037825" y="1010022"/>
            <a:ext cx="8154175" cy="149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6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899"/>
            <a:ext cx="3848703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Risultato finale</a:t>
            </a:r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1FECD1DE-CA2E-CB41-B736-40EE18C1D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9"/>
          <a:stretch/>
        </p:blipFill>
        <p:spPr>
          <a:xfrm>
            <a:off x="4216152" y="1725111"/>
            <a:ext cx="7876031" cy="338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2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639</Words>
  <Application>Microsoft Macintosh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MHW3</vt:lpstr>
      <vt:lpstr>Descrizione API utilizzate</vt:lpstr>
      <vt:lpstr>Google Books API</vt:lpstr>
      <vt:lpstr>Google Books API Response</vt:lpstr>
      <vt:lpstr>Google Books API Response</vt:lpstr>
      <vt:lpstr>Google Books API Implementazione</vt:lpstr>
      <vt:lpstr>Spotify API Richiesta token</vt:lpstr>
      <vt:lpstr>Spotify API</vt:lpstr>
      <vt:lpstr>Spotify API Formato risposta</vt:lpstr>
      <vt:lpstr>Spotify API Richiesta token</vt:lpstr>
      <vt:lpstr>Spotify API Richiesta</vt:lpstr>
      <vt:lpstr>Risultato finale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MATTIA PIRRI</cp:lastModifiedBy>
  <cp:revision>33</cp:revision>
  <dcterms:created xsi:type="dcterms:W3CDTF">2021-03-24T16:57:46Z</dcterms:created>
  <dcterms:modified xsi:type="dcterms:W3CDTF">2021-04-22T06:23:07Z</dcterms:modified>
</cp:coreProperties>
</file>